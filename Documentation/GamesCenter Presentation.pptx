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0" r:id="rId11"/>
    <p:sldId id="268" r:id="rId12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A9E"/>
    <a:srgbClr val="D5EBFF"/>
    <a:srgbClr val="DDEFFF"/>
    <a:srgbClr val="E8F4FF"/>
    <a:srgbClr val="F0F8FF"/>
    <a:srgbClr val="366B9C"/>
    <a:srgbClr val="2B5D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B154FE-2BFD-4D7F-9BF2-24D1E3A0127B}" v="95" dt="2024-11-21T16:55:04.230"/>
    <p1510:client id="{D7B20298-266E-F0AD-AAFF-2AA6A4EBF87E}" v="10" dt="2024-11-23T12:50:16.4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/>
              <a:t>Щракнете за редакция стил подзагл. обр.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7.12.2025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68234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7.12.2025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6752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7.12.2025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08347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7.12.2025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38668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Текстов контейне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7.12.2025 г.</a:t>
            </a:fld>
            <a:endParaRPr lang="bg-BG"/>
          </a:p>
        </p:txBody>
      </p:sp>
      <p:sp>
        <p:nvSpPr>
          <p:cNvPr id="8" name="Контейнер за долния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79854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7.12.2025 г.</a:t>
            </a:fld>
            <a:endParaRPr lang="bg-BG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07984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7.12.2025 г.</a:t>
            </a:fld>
            <a:endParaRPr lang="bg-BG"/>
          </a:p>
        </p:txBody>
      </p:sp>
      <p:sp>
        <p:nvSpPr>
          <p:cNvPr id="3" name="Контейнер за долния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23044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7.12.2025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89530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картина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7.12.2025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87967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7.12.2025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11056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4224-5F53-4681-B114-4FDA2DEB297A}" type="datetimeFigureOut">
              <a:rPr lang="bg-BG" smtClean="0"/>
              <a:t>7.12.2025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87108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104224-5F53-4681-B114-4FDA2DEB297A}" type="datetimeFigureOut">
              <a:rPr lang="bg-BG" smtClean="0"/>
              <a:t>7.12.2025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15E07B-6C49-45E8-9BB0-876BFAD0C1D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7533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1524000" y="1417140"/>
            <a:ext cx="9144000" cy="2387600"/>
          </a:xfrm>
        </p:spPr>
        <p:txBody>
          <a:bodyPr/>
          <a:lstStyle/>
          <a:p>
            <a:r>
              <a:rPr lang="en-US" sz="7500" b="1" dirty="0" err="1">
                <a:solidFill>
                  <a:srgbClr val="0C0A9E"/>
                </a:solidFill>
                <a:latin typeface="Arial Black" panose="020B0A04020102020204" pitchFamily="34" charset="0"/>
                <a:ea typeface="+mn-ea"/>
                <a:cs typeface="Posterama" panose="020B0502040204020203" pitchFamily="34" charset="0"/>
              </a:rPr>
              <a:t>GamesCenter</a:t>
            </a:r>
            <a:endParaRPr lang="bg-BG" sz="7500" b="1" dirty="0">
              <a:solidFill>
                <a:srgbClr val="0C0A9E"/>
              </a:solidFill>
              <a:latin typeface="Arial Black" panose="020B0A04020102020204" pitchFamily="34" charset="0"/>
              <a:ea typeface="+mn-ea"/>
              <a:cs typeface="Posterama" panose="020B0502040204020203" pitchFamily="34" charset="0"/>
            </a:endParaRPr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B2AE9028-422F-9B22-D098-1DEDF787B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438" y="3804741"/>
            <a:ext cx="6153150" cy="228600"/>
          </a:xfrm>
          <a:prstGeom prst="rect">
            <a:avLst/>
          </a:prstGeom>
        </p:spPr>
      </p:pic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B8738C71-6E77-9F99-3C29-36EE6F40A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685419" y="3804741"/>
            <a:ext cx="615315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30107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2019908D-0A74-20F8-1DE9-BF07B7CFE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77" y="533443"/>
            <a:ext cx="10515600" cy="1325563"/>
          </a:xfrm>
        </p:spPr>
        <p:txBody>
          <a:bodyPr>
            <a:normAutofit/>
          </a:bodyPr>
          <a:lstStyle/>
          <a:p>
            <a:r>
              <a:rPr lang="bg-BG" sz="4500" b="1" dirty="0">
                <a:solidFill>
                  <a:srgbClr val="0C0A9E"/>
                </a:solidFill>
                <a:latin typeface="Arial Black" panose="020B0A04020102020204" pitchFamily="34" charset="0"/>
                <a:ea typeface="+mn-ea"/>
                <a:cs typeface="Cascadia Mono" panose="020B0609020000020004" pitchFamily="49" charset="0"/>
              </a:rPr>
              <a:t>Table of contents</a:t>
            </a:r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E3AD6347-FFAF-0DC6-D22E-8DA508C39049}"/>
              </a:ext>
            </a:extLst>
          </p:cNvPr>
          <p:cNvSpPr txBox="1"/>
          <p:nvPr/>
        </p:nvSpPr>
        <p:spPr>
          <a:xfrm>
            <a:off x="946288" y="2268033"/>
            <a:ext cx="3765176" cy="11849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-BG" sz="3800" b="1" dirty="0">
                <a:solidFill>
                  <a:srgbClr val="0C0A9E"/>
                </a:solidFill>
                <a:latin typeface="Arial Black" panose="020B0A04020102020204" pitchFamily="34" charset="0"/>
                <a:cs typeface="Posterama" panose="020B0502040204020203" pitchFamily="34" charset="0"/>
              </a:rPr>
              <a:t>01</a:t>
            </a:r>
          </a:p>
          <a:p>
            <a:r>
              <a:rPr lang="bg-BG" sz="3300" b="1" dirty="0">
                <a:latin typeface="Consolas" panose="020B0609020204030204" pitchFamily="49" charset="0"/>
                <a:cs typeface="Cascadia Mono" panose="020B0609020000020004" pitchFamily="49" charset="0"/>
              </a:rPr>
              <a:t>Team members</a:t>
            </a:r>
          </a:p>
        </p:txBody>
      </p:sp>
      <p:sp>
        <p:nvSpPr>
          <p:cNvPr id="7" name="Текстово поле 6">
            <a:extLst>
              <a:ext uri="{FF2B5EF4-FFF2-40B4-BE49-F238E27FC236}">
                <a16:creationId xmlns:a16="http://schemas.microsoft.com/office/drawing/2014/main" id="{E3137411-3B4B-7853-60AC-BB27C34B4631}"/>
              </a:ext>
            </a:extLst>
          </p:cNvPr>
          <p:cNvSpPr txBox="1"/>
          <p:nvPr/>
        </p:nvSpPr>
        <p:spPr>
          <a:xfrm>
            <a:off x="946288" y="4271027"/>
            <a:ext cx="4607489" cy="11849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-BG" sz="3800" b="1" dirty="0">
                <a:solidFill>
                  <a:srgbClr val="0C0A9E"/>
                </a:solidFill>
                <a:latin typeface="Arial Black" panose="020B0A04020102020204" pitchFamily="34" charset="0"/>
                <a:cs typeface="Posterama" panose="020B0502040204020203" pitchFamily="34" charset="0"/>
              </a:rPr>
              <a:t>03</a:t>
            </a:r>
          </a:p>
          <a:p>
            <a:r>
              <a:rPr lang="bg-BG" sz="3300" b="1" dirty="0">
                <a:latin typeface="Consolas" panose="020B0609020204030204" pitchFamily="49" charset="0"/>
              </a:rPr>
              <a:t>Technologies used</a:t>
            </a:r>
          </a:p>
        </p:txBody>
      </p:sp>
      <p:sp>
        <p:nvSpPr>
          <p:cNvPr id="9" name="Текстово поле 8">
            <a:extLst>
              <a:ext uri="{FF2B5EF4-FFF2-40B4-BE49-F238E27FC236}">
                <a16:creationId xmlns:a16="http://schemas.microsoft.com/office/drawing/2014/main" id="{476E9DAA-4576-B556-20C0-4960104983D5}"/>
              </a:ext>
            </a:extLst>
          </p:cNvPr>
          <p:cNvSpPr txBox="1"/>
          <p:nvPr/>
        </p:nvSpPr>
        <p:spPr>
          <a:xfrm>
            <a:off x="6638225" y="2268033"/>
            <a:ext cx="3541058" cy="11849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-BG" sz="3800" b="1" dirty="0">
                <a:solidFill>
                  <a:srgbClr val="0C0A9E"/>
                </a:solidFill>
                <a:latin typeface="Arial Black"/>
              </a:rPr>
              <a:t>02</a:t>
            </a:r>
          </a:p>
          <a:p>
            <a:r>
              <a:rPr lang="bg-BG" sz="3300" b="1" dirty="0">
                <a:latin typeface="Consolas" panose="020B0609020204030204" pitchFamily="49" charset="0"/>
              </a:rPr>
              <a:t>Project</a:t>
            </a:r>
            <a:r>
              <a:rPr lang="bg-BG" sz="33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bg-BG" sz="3300" b="1" dirty="0">
                <a:latin typeface="Consolas" panose="020B0609020204030204" pitchFamily="49" charset="0"/>
              </a:rPr>
              <a:t>idea</a:t>
            </a:r>
          </a:p>
        </p:txBody>
      </p:sp>
      <p:sp>
        <p:nvSpPr>
          <p:cNvPr id="10" name="Текстово поле 9">
            <a:extLst>
              <a:ext uri="{FF2B5EF4-FFF2-40B4-BE49-F238E27FC236}">
                <a16:creationId xmlns:a16="http://schemas.microsoft.com/office/drawing/2014/main" id="{E6440F71-8CD7-EE42-0F20-529B209CE543}"/>
              </a:ext>
            </a:extLst>
          </p:cNvPr>
          <p:cNvSpPr txBox="1"/>
          <p:nvPr/>
        </p:nvSpPr>
        <p:spPr>
          <a:xfrm>
            <a:off x="6638225" y="4271027"/>
            <a:ext cx="5177961" cy="11849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-BG" sz="3800" b="1" dirty="0">
                <a:solidFill>
                  <a:srgbClr val="0C0A9E"/>
                </a:solidFill>
                <a:latin typeface="Arial Black"/>
              </a:rPr>
              <a:t>0</a:t>
            </a:r>
            <a:r>
              <a:rPr lang="en-US" sz="3800" b="1" dirty="0">
                <a:solidFill>
                  <a:srgbClr val="0C0A9E"/>
                </a:solidFill>
                <a:latin typeface="Arial Black"/>
              </a:rPr>
              <a:t>4</a:t>
            </a:r>
            <a:endParaRPr lang="bg-BG" sz="3800" b="1" dirty="0">
              <a:solidFill>
                <a:srgbClr val="0C0A9E"/>
              </a:solidFill>
              <a:latin typeface="Arial Black"/>
            </a:endParaRPr>
          </a:p>
          <a:p>
            <a:r>
              <a:rPr lang="en-US" sz="3300" b="1" dirty="0">
                <a:latin typeface="Consolas" panose="020B0609020204030204" pitchFamily="49" charset="0"/>
              </a:rPr>
              <a:t>Work plan</a:t>
            </a:r>
            <a:endParaRPr lang="bg-BG" sz="3300" b="1" dirty="0">
              <a:latin typeface="Consolas" panose="020B0609020204030204" pitchFamily="49" charset="0"/>
            </a:endParaRPr>
          </a:p>
        </p:txBody>
      </p:sp>
      <p:pic>
        <p:nvPicPr>
          <p:cNvPr id="12" name="Картина 11">
            <a:extLst>
              <a:ext uri="{FF2B5EF4-FFF2-40B4-BE49-F238E27FC236}">
                <a16:creationId xmlns:a16="http://schemas.microsoft.com/office/drawing/2014/main" id="{10FA887B-B43C-9B29-AFC3-6458AC3A9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" y="1488775"/>
            <a:ext cx="615315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678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8F44A279-3418-32F0-5BB8-FD528F877FD3}"/>
              </a:ext>
            </a:extLst>
          </p:cNvPr>
          <p:cNvSpPr txBox="1"/>
          <p:nvPr/>
        </p:nvSpPr>
        <p:spPr>
          <a:xfrm>
            <a:off x="656284" y="1322716"/>
            <a:ext cx="10892117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bg-BG" sz="7000" dirty="0">
                <a:solidFill>
                  <a:srgbClr val="0C0A9E"/>
                </a:solidFill>
                <a:latin typeface="Arial Black"/>
              </a:rPr>
              <a:t>01</a:t>
            </a:r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EC277824-20BD-2520-6225-829B9A38DA9A}"/>
              </a:ext>
            </a:extLst>
          </p:cNvPr>
          <p:cNvSpPr txBox="1"/>
          <p:nvPr/>
        </p:nvSpPr>
        <p:spPr>
          <a:xfrm>
            <a:off x="656284" y="2645307"/>
            <a:ext cx="10399058" cy="9387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-BG" sz="5500" b="1" dirty="0">
                <a:solidFill>
                  <a:srgbClr val="0C0A9E"/>
                </a:solidFill>
                <a:latin typeface="Arial Black" panose="020B0A04020102020204" pitchFamily="34" charset="0"/>
              </a:rPr>
              <a:t>Team members</a:t>
            </a:r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A85BCA19-9C26-7073-72B9-939556D8A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37" y="3659756"/>
            <a:ext cx="6153150" cy="228600"/>
          </a:xfrm>
          <a:prstGeom prst="rect">
            <a:avLst/>
          </a:prstGeom>
        </p:spPr>
      </p:pic>
      <p:sp>
        <p:nvSpPr>
          <p:cNvPr id="9" name="Правоъгълен триъгълник 8">
            <a:extLst>
              <a:ext uri="{FF2B5EF4-FFF2-40B4-BE49-F238E27FC236}">
                <a16:creationId xmlns:a16="http://schemas.microsoft.com/office/drawing/2014/main" id="{1E6CF2DD-6F0B-D522-C465-0ACD27381316}"/>
              </a:ext>
            </a:extLst>
          </p:cNvPr>
          <p:cNvSpPr/>
          <p:nvPr/>
        </p:nvSpPr>
        <p:spPr>
          <a:xfrm rot="10800000">
            <a:off x="9592235" y="-423"/>
            <a:ext cx="2599764" cy="2286000"/>
          </a:xfrm>
          <a:prstGeom prst="rtTriangle">
            <a:avLst/>
          </a:prstGeom>
          <a:solidFill>
            <a:srgbClr val="0C0A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3639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лавие 3">
            <a:extLst>
              <a:ext uri="{FF2B5EF4-FFF2-40B4-BE49-F238E27FC236}">
                <a16:creationId xmlns:a16="http://schemas.microsoft.com/office/drawing/2014/main" id="{BD9F2569-7BF3-8100-7A20-E5586B91E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300" b="1" dirty="0">
                <a:solidFill>
                  <a:srgbClr val="0C0A9E"/>
                </a:solidFill>
                <a:latin typeface="Arial Black" panose="020B0A04020102020204" pitchFamily="34" charset="0"/>
                <a:ea typeface="+mn-ea"/>
                <a:cs typeface="+mn-cs"/>
              </a:rPr>
              <a:t>01. </a:t>
            </a:r>
            <a:r>
              <a:rPr lang="bg-BG" sz="4300" b="1" dirty="0" err="1">
                <a:solidFill>
                  <a:srgbClr val="0C0A9E"/>
                </a:solidFill>
                <a:latin typeface="Arial Black" panose="020B0A04020102020204" pitchFamily="34" charset="0"/>
                <a:ea typeface="+mn-ea"/>
                <a:cs typeface="+mn-cs"/>
              </a:rPr>
              <a:t>Team</a:t>
            </a:r>
            <a:r>
              <a:rPr lang="bg-BG" sz="4300" b="1" dirty="0">
                <a:solidFill>
                  <a:srgbClr val="0C0A9E"/>
                </a:solidFill>
                <a:latin typeface="Arial Black" panose="020B0A04020102020204" pitchFamily="34" charset="0"/>
                <a:ea typeface="+mn-ea"/>
                <a:cs typeface="+mn-cs"/>
              </a:rPr>
              <a:t> </a:t>
            </a:r>
            <a:r>
              <a:rPr lang="bg-BG" sz="4300" b="1" dirty="0" err="1">
                <a:solidFill>
                  <a:srgbClr val="0C0A9E"/>
                </a:solidFill>
                <a:latin typeface="Arial Black" panose="020B0A04020102020204" pitchFamily="34" charset="0"/>
                <a:ea typeface="+mn-ea"/>
                <a:cs typeface="+mn-cs"/>
              </a:rPr>
              <a:t>members</a:t>
            </a:r>
            <a:endParaRPr lang="bg-BG" sz="4300" b="1" dirty="0">
              <a:solidFill>
                <a:srgbClr val="0C0A9E"/>
              </a:solidFill>
              <a:latin typeface="Arial Black" panose="020B0A04020102020204" pitchFamily="34" charset="0"/>
              <a:ea typeface="+mn-ea"/>
              <a:cs typeface="+mn-cs"/>
            </a:endParaRPr>
          </a:p>
        </p:txBody>
      </p:sp>
      <p:pic>
        <p:nvPicPr>
          <p:cNvPr id="6" name="Картина 2">
            <a:extLst>
              <a:ext uri="{FF2B5EF4-FFF2-40B4-BE49-F238E27FC236}">
                <a16:creationId xmlns:a16="http://schemas.microsoft.com/office/drawing/2014/main" id="{F53AE33E-5F7D-4DF1-B0DE-4D264AFFF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045084" y="151681"/>
            <a:ext cx="6153150" cy="228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D5EB8A-3756-4224-ABBA-2A5D4F910F58}"/>
              </a:ext>
            </a:extLst>
          </p:cNvPr>
          <p:cNvSpPr txBox="1"/>
          <p:nvPr/>
        </p:nvSpPr>
        <p:spPr>
          <a:xfrm>
            <a:off x="3185599" y="4221430"/>
            <a:ext cx="28587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C0A9E"/>
                </a:solidFill>
                <a:latin typeface="Arial Black" panose="020B0A04020102020204" pitchFamily="34" charset="0"/>
                <a:cs typeface="Cascadia Mono" panose="020B0609020000020004" pitchFamily="49" charset="0"/>
              </a:rPr>
              <a:t>Presiyan Tenev</a:t>
            </a:r>
          </a:p>
          <a:p>
            <a:r>
              <a:rPr lang="en-US" b="1" dirty="0">
                <a:latin typeface="Consolas" panose="020B0609020204030204" pitchFamily="49" charset="0"/>
                <a:cs typeface="Cascadia Mono" panose="020B0609020000020004" pitchFamily="49" charset="0"/>
              </a:rPr>
              <a:t>Designer</a:t>
            </a:r>
            <a:endParaRPr lang="ru-RU" b="1" dirty="0">
              <a:latin typeface="Consolas" panose="020B0609020204030204" pitchFamily="49" charset="0"/>
              <a:cs typeface="Cascadia Mono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9EA37A-3902-40E4-964D-8249173C6046}"/>
              </a:ext>
            </a:extLst>
          </p:cNvPr>
          <p:cNvSpPr txBox="1"/>
          <p:nvPr/>
        </p:nvSpPr>
        <p:spPr>
          <a:xfrm>
            <a:off x="8372059" y="4221430"/>
            <a:ext cx="29817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C0A9E"/>
                </a:solidFill>
                <a:latin typeface="Arial Black" panose="020B0A04020102020204" pitchFamily="34" charset="0"/>
                <a:cs typeface="Cascadia Mono" panose="020B0609020000020004" pitchFamily="49" charset="0"/>
              </a:rPr>
              <a:t>Beray Nuri</a:t>
            </a:r>
          </a:p>
          <a:p>
            <a:r>
              <a:rPr lang="en-US" b="1" dirty="0">
                <a:latin typeface="Consolas" panose="020B0609020204030204" pitchFamily="49" charset="0"/>
                <a:cs typeface="Cascadia Mono" panose="020B0609020000020004" pitchFamily="49" charset="0"/>
              </a:rPr>
              <a:t>Scrum trainer</a:t>
            </a:r>
            <a:endParaRPr lang="ru-RU" b="1" dirty="0">
              <a:latin typeface="Consolas" panose="020B0609020204030204" pitchFamily="49" charset="0"/>
              <a:cs typeface="Cascadia Mono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AE51EC-D194-45F4-85F6-F74D5D25FA5B}"/>
              </a:ext>
            </a:extLst>
          </p:cNvPr>
          <p:cNvSpPr txBox="1"/>
          <p:nvPr/>
        </p:nvSpPr>
        <p:spPr>
          <a:xfrm>
            <a:off x="3246948" y="1741419"/>
            <a:ext cx="2498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C0A9E"/>
                </a:solidFill>
                <a:latin typeface="Arial Black" panose="020B0A04020102020204" pitchFamily="34" charset="0"/>
                <a:cs typeface="Cascadia Mono" panose="020B0609020000020004" pitchFamily="49" charset="0"/>
              </a:rPr>
              <a:t>Vasil </a:t>
            </a:r>
            <a:r>
              <a:rPr lang="en-US" b="1" dirty="0" err="1">
                <a:solidFill>
                  <a:srgbClr val="0C0A9E"/>
                </a:solidFill>
                <a:latin typeface="Arial Black" panose="020B0A04020102020204" pitchFamily="34" charset="0"/>
                <a:cs typeface="Cascadia Mono" panose="020B0609020000020004" pitchFamily="49" charset="0"/>
              </a:rPr>
              <a:t>Zarakyan</a:t>
            </a:r>
            <a:endParaRPr lang="en-US" b="1" dirty="0">
              <a:solidFill>
                <a:srgbClr val="0C0A9E"/>
              </a:solidFill>
              <a:latin typeface="Arial Black" panose="020B0A04020102020204" pitchFamily="34" charset="0"/>
              <a:cs typeface="Cascadia Mono" panose="020B06090200000200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  <a:cs typeface="Cascadia Mono" panose="020B0609020000020004" pitchFamily="49" charset="0"/>
              </a:rPr>
              <a:t>Back-End Developer</a:t>
            </a:r>
            <a:endParaRPr lang="ru-RU" b="1" dirty="0">
              <a:latin typeface="Consolas" panose="020B0609020204030204" pitchFamily="49" charset="0"/>
              <a:cs typeface="Cascadia Mono" panose="020B060902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32F58C-0915-4501-9DD5-F45731CF0BFD}"/>
              </a:ext>
            </a:extLst>
          </p:cNvPr>
          <p:cNvSpPr txBox="1"/>
          <p:nvPr/>
        </p:nvSpPr>
        <p:spPr>
          <a:xfrm>
            <a:off x="8372059" y="1745209"/>
            <a:ext cx="29817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C0A9E"/>
                </a:solidFill>
                <a:latin typeface="Arial Black" panose="020B0A04020102020204" pitchFamily="34" charset="0"/>
                <a:cs typeface="Cascadia Mono" panose="020B0609020000020004" pitchFamily="49" charset="0"/>
              </a:rPr>
              <a:t>Nikola Dimitrov</a:t>
            </a:r>
          </a:p>
          <a:p>
            <a:r>
              <a:rPr lang="en-US" b="1" dirty="0">
                <a:latin typeface="Consolas" panose="020B0609020204030204" pitchFamily="49" charset="0"/>
                <a:cs typeface="Cascadia Mono" panose="020B0609020000020004" pitchFamily="49" charset="0"/>
              </a:rPr>
              <a:t>Front-End Developer</a:t>
            </a:r>
            <a:endParaRPr lang="ru-RU" b="1" dirty="0">
              <a:latin typeface="Consolas" panose="020B0609020204030204" pitchFamily="49" charset="0"/>
              <a:cs typeface="Cascadia Mono" panose="020B0609020000020004" pitchFamily="49" charset="0"/>
            </a:endParaRPr>
          </a:p>
        </p:txBody>
      </p:sp>
      <p:pic>
        <p:nvPicPr>
          <p:cNvPr id="13" name="Picture 12" descr="A child taking a selfie&#10;&#10;AI-generated content may be incorrect.">
            <a:extLst>
              <a:ext uri="{FF2B5EF4-FFF2-40B4-BE49-F238E27FC236}">
                <a16:creationId xmlns:a16="http://schemas.microsoft.com/office/drawing/2014/main" id="{231AA809-C4F1-4F13-EF3C-7EB6A342E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574" y="4303893"/>
            <a:ext cx="1934019" cy="1940063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C8363E6C-CB89-716F-01FD-76D75C40D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</a:t>
            </a:r>
          </a:p>
        </p:txBody>
      </p:sp>
      <p:pic>
        <p:nvPicPr>
          <p:cNvPr id="17" name="Picture 16" descr="A child in a blue and grey jacket&#10;&#10;AI-generated content may be incorrect.">
            <a:extLst>
              <a:ext uri="{FF2B5EF4-FFF2-40B4-BE49-F238E27FC236}">
                <a16:creationId xmlns:a16="http://schemas.microsoft.com/office/drawing/2014/main" id="{055934ED-0955-F255-065C-C113E8F6C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641" y="4303893"/>
            <a:ext cx="2011322" cy="2022981"/>
          </a:xfrm>
          <a:prstGeom prst="rect">
            <a:avLst/>
          </a:prstGeom>
        </p:spPr>
      </p:pic>
      <p:pic>
        <p:nvPicPr>
          <p:cNvPr id="19" name="Picture 18" descr="A child in a white shirt&#10;&#10;AI-generated content may be incorrect.">
            <a:extLst>
              <a:ext uri="{FF2B5EF4-FFF2-40B4-BE49-F238E27FC236}">
                <a16:creationId xmlns:a16="http://schemas.microsoft.com/office/drawing/2014/main" id="{B1B74340-BAED-7AA8-9B94-E22C619539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302" y="1555224"/>
            <a:ext cx="2193494" cy="209563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5DAA1E8-0B25-4B4B-227B-EC746D4C5B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137" y="1457360"/>
            <a:ext cx="2193494" cy="219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3752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8F44A279-3418-32F0-5BB8-FD528F877FD3}"/>
              </a:ext>
            </a:extLst>
          </p:cNvPr>
          <p:cNvSpPr txBox="1"/>
          <p:nvPr/>
        </p:nvSpPr>
        <p:spPr>
          <a:xfrm>
            <a:off x="656284" y="1322716"/>
            <a:ext cx="10892117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bg-BG" sz="7000" dirty="0">
                <a:solidFill>
                  <a:srgbClr val="0C0A9E"/>
                </a:solidFill>
                <a:latin typeface="Arial Black"/>
              </a:rPr>
              <a:t>02</a:t>
            </a:r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EC277824-20BD-2520-6225-829B9A38DA9A}"/>
              </a:ext>
            </a:extLst>
          </p:cNvPr>
          <p:cNvSpPr txBox="1"/>
          <p:nvPr/>
        </p:nvSpPr>
        <p:spPr>
          <a:xfrm>
            <a:off x="650364" y="2480940"/>
            <a:ext cx="1039905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-BG" sz="6000" b="1" dirty="0">
                <a:solidFill>
                  <a:srgbClr val="0C0A9E"/>
                </a:solidFill>
                <a:latin typeface="Arial Black" panose="020B0A04020102020204" pitchFamily="34" charset="0"/>
                <a:cs typeface="Cascadia Mono" panose="020B0609020000020004" pitchFamily="49" charset="0"/>
              </a:rPr>
              <a:t>Project </a:t>
            </a:r>
            <a:r>
              <a:rPr lang="bg-BG" sz="6000" b="1" dirty="0" err="1">
                <a:solidFill>
                  <a:srgbClr val="0C0A9E"/>
                </a:solidFill>
                <a:latin typeface="Arial Black" panose="020B0A04020102020204" pitchFamily="34" charset="0"/>
                <a:cs typeface="Cascadia Mono" panose="020B0609020000020004" pitchFamily="49" charset="0"/>
              </a:rPr>
              <a:t>idea</a:t>
            </a:r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A85BCA19-9C26-7073-72B9-939556D8A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37" y="3659756"/>
            <a:ext cx="6153150" cy="228600"/>
          </a:xfrm>
          <a:prstGeom prst="rect">
            <a:avLst/>
          </a:prstGeom>
        </p:spPr>
      </p:pic>
      <p:sp>
        <p:nvSpPr>
          <p:cNvPr id="9" name="Правоъгълен триъгълник 8">
            <a:extLst>
              <a:ext uri="{FF2B5EF4-FFF2-40B4-BE49-F238E27FC236}">
                <a16:creationId xmlns:a16="http://schemas.microsoft.com/office/drawing/2014/main" id="{1E6CF2DD-6F0B-D522-C465-0ACD27381316}"/>
              </a:ext>
            </a:extLst>
          </p:cNvPr>
          <p:cNvSpPr/>
          <p:nvPr/>
        </p:nvSpPr>
        <p:spPr>
          <a:xfrm rot="10800000">
            <a:off x="9592235" y="-423"/>
            <a:ext cx="2599764" cy="2286000"/>
          </a:xfrm>
          <a:prstGeom prst="rtTriangle">
            <a:avLst/>
          </a:prstGeom>
          <a:solidFill>
            <a:srgbClr val="0C0A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73231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лавие 3">
            <a:extLst>
              <a:ext uri="{FF2B5EF4-FFF2-40B4-BE49-F238E27FC236}">
                <a16:creationId xmlns:a16="http://schemas.microsoft.com/office/drawing/2014/main" id="{BD9F2569-7BF3-8100-7A20-E5586B91E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500" b="1" dirty="0">
                <a:solidFill>
                  <a:srgbClr val="0C0A9E"/>
                </a:solidFill>
                <a:latin typeface="Arial Black" panose="020B0A04020102020204" pitchFamily="34" charset="0"/>
                <a:cs typeface="Cascadia Mono" panose="020B0609020000020004" pitchFamily="49" charset="0"/>
              </a:rPr>
              <a:t>02. Project </a:t>
            </a:r>
            <a:r>
              <a:rPr lang="bg-BG" sz="4500" b="1" dirty="0" err="1">
                <a:solidFill>
                  <a:srgbClr val="0C0A9E"/>
                </a:solidFill>
                <a:latin typeface="Arial Black" panose="020B0A04020102020204" pitchFamily="34" charset="0"/>
                <a:cs typeface="Cascadia Mono" panose="020B0609020000020004" pitchFamily="49" charset="0"/>
              </a:rPr>
              <a:t>idea</a:t>
            </a:r>
          </a:p>
        </p:txBody>
      </p:sp>
      <p:sp>
        <p:nvSpPr>
          <p:cNvPr id="5" name="Контейнер за съдържание 4">
            <a:extLst>
              <a:ext uri="{FF2B5EF4-FFF2-40B4-BE49-F238E27FC236}">
                <a16:creationId xmlns:a16="http://schemas.microsoft.com/office/drawing/2014/main" id="{3BAF1F1C-B626-88DF-8991-F8BC47EE3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b="1" dirty="0">
                <a:latin typeface="Consolas"/>
              </a:rPr>
              <a:t>Our team decided </a:t>
            </a:r>
            <a:r>
              <a:rPr lang="en-US" sz="2600" b="1">
                <a:latin typeface="Consolas"/>
              </a:rPr>
              <a:t>to create </a:t>
            </a:r>
            <a:r>
              <a:rPr lang="en-US" sz="2600" b="1" dirty="0">
                <a:latin typeface="Consolas"/>
              </a:rPr>
              <a:t>a simple, yet entertaining game, named </a:t>
            </a:r>
            <a:r>
              <a:rPr lang="en-US" sz="2600" b="1" dirty="0" err="1">
                <a:latin typeface="Consolas"/>
              </a:rPr>
              <a:t>GamesCenter</a:t>
            </a:r>
            <a:r>
              <a:rPr lang="en-US" sz="2600" b="1" dirty="0">
                <a:latin typeface="Consolas"/>
              </a:rPr>
              <a:t>. You pick whatever u feel like playing , and start thinking. Our games were made to challenge the brains of our players. </a:t>
            </a:r>
          </a:p>
        </p:txBody>
      </p:sp>
      <p:pic>
        <p:nvPicPr>
          <p:cNvPr id="3" name="Картина 2">
            <a:extLst>
              <a:ext uri="{FF2B5EF4-FFF2-40B4-BE49-F238E27FC236}">
                <a16:creationId xmlns:a16="http://schemas.microsoft.com/office/drawing/2014/main" id="{92434681-8CCD-C1AD-4C0B-BAA1CCDB4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045084" y="151681"/>
            <a:ext cx="615315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37748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8F44A279-3418-32F0-5BB8-FD528F877FD3}"/>
              </a:ext>
            </a:extLst>
          </p:cNvPr>
          <p:cNvSpPr txBox="1"/>
          <p:nvPr/>
        </p:nvSpPr>
        <p:spPr>
          <a:xfrm>
            <a:off x="656284" y="1322716"/>
            <a:ext cx="2107551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bg-BG" sz="7000" dirty="0">
                <a:solidFill>
                  <a:srgbClr val="0C0A9E"/>
                </a:solidFill>
                <a:latin typeface="Arial Black"/>
              </a:rPr>
              <a:t>03</a:t>
            </a:r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EC277824-20BD-2520-6225-829B9A38DA9A}"/>
              </a:ext>
            </a:extLst>
          </p:cNvPr>
          <p:cNvSpPr txBox="1"/>
          <p:nvPr/>
        </p:nvSpPr>
        <p:spPr>
          <a:xfrm>
            <a:off x="650364" y="2480940"/>
            <a:ext cx="1039905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-BG" sz="6000" b="1" dirty="0">
                <a:solidFill>
                  <a:srgbClr val="0C0A9E"/>
                </a:solidFill>
                <a:latin typeface="Arial Black" panose="020B0A04020102020204" pitchFamily="34" charset="0"/>
                <a:cs typeface="Cascadia Mono" panose="020B0609020000020004" pitchFamily="49" charset="0"/>
              </a:rPr>
              <a:t>Technologies </a:t>
            </a:r>
            <a:r>
              <a:rPr lang="bg-BG" sz="6000" b="1" dirty="0" err="1">
                <a:solidFill>
                  <a:srgbClr val="0C0A9E"/>
                </a:solidFill>
                <a:latin typeface="Arial Black" panose="020B0A04020102020204" pitchFamily="34" charset="0"/>
                <a:cs typeface="Cascadia Mono" panose="020B0609020000020004" pitchFamily="49" charset="0"/>
              </a:rPr>
              <a:t>used</a:t>
            </a:r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A85BCA19-9C26-7073-72B9-939556D8A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37" y="3659756"/>
            <a:ext cx="6153150" cy="228600"/>
          </a:xfrm>
          <a:prstGeom prst="rect">
            <a:avLst/>
          </a:prstGeom>
        </p:spPr>
      </p:pic>
      <p:sp>
        <p:nvSpPr>
          <p:cNvPr id="9" name="Правоъгълен триъгълник 8">
            <a:extLst>
              <a:ext uri="{FF2B5EF4-FFF2-40B4-BE49-F238E27FC236}">
                <a16:creationId xmlns:a16="http://schemas.microsoft.com/office/drawing/2014/main" id="{1E6CF2DD-6F0B-D522-C465-0ACD27381316}"/>
              </a:ext>
            </a:extLst>
          </p:cNvPr>
          <p:cNvSpPr/>
          <p:nvPr/>
        </p:nvSpPr>
        <p:spPr>
          <a:xfrm rot="10800000">
            <a:off x="9592235" y="-423"/>
            <a:ext cx="2599764" cy="2286000"/>
          </a:xfrm>
          <a:prstGeom prst="rtTriangle">
            <a:avLst/>
          </a:prstGeom>
          <a:solidFill>
            <a:srgbClr val="0C0A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81840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лавие 3">
            <a:extLst>
              <a:ext uri="{FF2B5EF4-FFF2-40B4-BE49-F238E27FC236}">
                <a16:creationId xmlns:a16="http://schemas.microsoft.com/office/drawing/2014/main" id="{BD9F2569-7BF3-8100-7A20-E5586B91E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500" b="1" dirty="0">
                <a:solidFill>
                  <a:srgbClr val="0C0A9E"/>
                </a:solidFill>
                <a:latin typeface="Arial Black" panose="020B0A04020102020204" pitchFamily="34" charset="0"/>
                <a:cs typeface="Cascadia Mono" panose="020B0609020000020004" pitchFamily="49" charset="0"/>
              </a:rPr>
              <a:t>03. Technologies </a:t>
            </a:r>
            <a:r>
              <a:rPr lang="bg-BG" sz="4500" b="1" dirty="0" err="1">
                <a:solidFill>
                  <a:srgbClr val="0C0A9E"/>
                </a:solidFill>
                <a:latin typeface="Arial Black" panose="020B0A04020102020204" pitchFamily="34" charset="0"/>
                <a:cs typeface="Cascadia Mono" panose="020B0609020000020004" pitchFamily="49" charset="0"/>
              </a:rPr>
              <a:t>used</a:t>
            </a:r>
          </a:p>
        </p:txBody>
      </p:sp>
      <p:pic>
        <p:nvPicPr>
          <p:cNvPr id="3" name="Картина 2">
            <a:extLst>
              <a:ext uri="{FF2B5EF4-FFF2-40B4-BE49-F238E27FC236}">
                <a16:creationId xmlns:a16="http://schemas.microsoft.com/office/drawing/2014/main" id="{92434681-8CCD-C1AD-4C0B-BAA1CCDB4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045084" y="151681"/>
            <a:ext cx="6153150" cy="228600"/>
          </a:xfrm>
          <a:prstGeom prst="rect">
            <a:avLst/>
          </a:prstGeom>
        </p:spPr>
      </p:pic>
      <p:pic>
        <p:nvPicPr>
          <p:cNvPr id="1026" name="Picture 2" descr="Microsoft Teams Logo, symbol, meaning, history, PNG, brand">
            <a:extLst>
              <a:ext uri="{FF2B5EF4-FFF2-40B4-BE49-F238E27FC236}">
                <a16:creationId xmlns:a16="http://schemas.microsoft.com/office/drawing/2014/main" id="{3685CE34-0B60-45AC-BD16-EFB7F9040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16" y="4389999"/>
            <a:ext cx="3000823" cy="1687963"/>
          </a:xfrm>
          <a:prstGeom prst="rect">
            <a:avLst/>
          </a:prstGeom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Logo, symbol, meaning, history, PNG, brand">
            <a:extLst>
              <a:ext uri="{FF2B5EF4-FFF2-40B4-BE49-F238E27FC236}">
                <a16:creationId xmlns:a16="http://schemas.microsoft.com/office/drawing/2014/main" id="{3672D7E8-8AAB-460F-B964-165BC4F5E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94" y="3505758"/>
            <a:ext cx="3864514" cy="217378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dd icons for Visual Studio and Visual Studio Code · Issue #1763 · twbs ...">
            <a:extLst>
              <a:ext uri="{FF2B5EF4-FFF2-40B4-BE49-F238E27FC236}">
                <a16:creationId xmlns:a16="http://schemas.microsoft.com/office/drawing/2014/main" id="{0835AEE7-B43E-464D-8BD4-B04094A4E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007" y="1830105"/>
            <a:ext cx="1984498" cy="1984498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icrosoft PowerPoint Logo - PNG and Vector - Logo Download">
            <a:extLst>
              <a:ext uri="{FF2B5EF4-FFF2-40B4-BE49-F238E27FC236}">
                <a16:creationId xmlns:a16="http://schemas.microsoft.com/office/drawing/2014/main" id="{96E27EE7-ECAE-4E0B-A9A3-C9481D213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055" y="3429000"/>
            <a:ext cx="3221671" cy="3221671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Microsoft Word Logo - PNG and Vector - Logo Download">
            <a:extLst>
              <a:ext uri="{FF2B5EF4-FFF2-40B4-BE49-F238E27FC236}">
                <a16:creationId xmlns:a16="http://schemas.microsoft.com/office/drawing/2014/main" id="{A42A8C30-0CD5-458E-9324-78E0575E1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161" y="1500561"/>
            <a:ext cx="2173788" cy="2173788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186753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8F44A279-3418-32F0-5BB8-FD528F877FD3}"/>
              </a:ext>
            </a:extLst>
          </p:cNvPr>
          <p:cNvSpPr txBox="1"/>
          <p:nvPr/>
        </p:nvSpPr>
        <p:spPr>
          <a:xfrm>
            <a:off x="656284" y="1322716"/>
            <a:ext cx="2107551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bg-BG" sz="7000" dirty="0">
                <a:solidFill>
                  <a:srgbClr val="0C0A9E"/>
                </a:solidFill>
                <a:latin typeface="Arial Black"/>
              </a:rPr>
              <a:t>0</a:t>
            </a:r>
            <a:r>
              <a:rPr lang="en-US" sz="7000" dirty="0">
                <a:solidFill>
                  <a:srgbClr val="0C0A9E"/>
                </a:solidFill>
                <a:latin typeface="Arial Black"/>
              </a:rPr>
              <a:t>4</a:t>
            </a:r>
            <a:endParaRPr lang="bg-BG" sz="7000" dirty="0">
              <a:solidFill>
                <a:srgbClr val="0C0A9E"/>
              </a:solidFill>
              <a:latin typeface="Arial Black"/>
            </a:endParaRPr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EC277824-20BD-2520-6225-829B9A38DA9A}"/>
              </a:ext>
            </a:extLst>
          </p:cNvPr>
          <p:cNvSpPr txBox="1"/>
          <p:nvPr/>
        </p:nvSpPr>
        <p:spPr>
          <a:xfrm>
            <a:off x="650364" y="2480940"/>
            <a:ext cx="1039905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>
                <a:solidFill>
                  <a:srgbClr val="0C0A9E"/>
                </a:solidFill>
                <a:latin typeface="Arial Black" panose="020B0A04020102020204" pitchFamily="34" charset="0"/>
                <a:cs typeface="Cascadia Mono" panose="020B0609020000020004" pitchFamily="49" charset="0"/>
              </a:rPr>
              <a:t>Work plan</a:t>
            </a:r>
            <a:endParaRPr lang="bg-BG" sz="6000" b="1" dirty="0" err="1">
              <a:solidFill>
                <a:srgbClr val="0C0A9E"/>
              </a:solidFill>
              <a:latin typeface="Arial Black" panose="020B0A04020102020204" pitchFamily="34" charset="0"/>
              <a:cs typeface="Cascadia Mono" panose="020B0609020000020004" pitchFamily="49" charset="0"/>
            </a:endParaRPr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A85BCA19-9C26-7073-72B9-939556D8A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37" y="3659756"/>
            <a:ext cx="6153150" cy="228600"/>
          </a:xfrm>
          <a:prstGeom prst="rect">
            <a:avLst/>
          </a:prstGeom>
        </p:spPr>
      </p:pic>
      <p:sp>
        <p:nvSpPr>
          <p:cNvPr id="9" name="Правоъгълен триъгълник 8">
            <a:extLst>
              <a:ext uri="{FF2B5EF4-FFF2-40B4-BE49-F238E27FC236}">
                <a16:creationId xmlns:a16="http://schemas.microsoft.com/office/drawing/2014/main" id="{1E6CF2DD-6F0B-D522-C465-0ACD27381316}"/>
              </a:ext>
            </a:extLst>
          </p:cNvPr>
          <p:cNvSpPr/>
          <p:nvPr/>
        </p:nvSpPr>
        <p:spPr>
          <a:xfrm rot="10800000">
            <a:off x="9592235" y="-423"/>
            <a:ext cx="2599764" cy="2286000"/>
          </a:xfrm>
          <a:prstGeom prst="rtTriangle">
            <a:avLst/>
          </a:prstGeom>
          <a:solidFill>
            <a:srgbClr val="0C0A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77025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лавие 3">
            <a:extLst>
              <a:ext uri="{FF2B5EF4-FFF2-40B4-BE49-F238E27FC236}">
                <a16:creationId xmlns:a16="http://schemas.microsoft.com/office/drawing/2014/main" id="{BD9F2569-7BF3-8100-7A20-E5586B91E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500" b="1" dirty="0">
                <a:solidFill>
                  <a:srgbClr val="0C0A9E"/>
                </a:solidFill>
                <a:latin typeface="Arial Black" panose="020B0A04020102020204" pitchFamily="34" charset="0"/>
                <a:cs typeface="Cascadia Mono" panose="020B0609020000020004" pitchFamily="49" charset="0"/>
              </a:rPr>
              <a:t>0</a:t>
            </a:r>
            <a:r>
              <a:rPr lang="en-US" sz="4500" b="1" dirty="0">
                <a:solidFill>
                  <a:srgbClr val="0C0A9E"/>
                </a:solidFill>
                <a:latin typeface="Arial Black" panose="020B0A04020102020204" pitchFamily="34" charset="0"/>
                <a:cs typeface="Cascadia Mono" panose="020B0609020000020004" pitchFamily="49" charset="0"/>
              </a:rPr>
              <a:t>4</a:t>
            </a:r>
            <a:r>
              <a:rPr lang="bg-BG" sz="4500" b="1" dirty="0">
                <a:solidFill>
                  <a:srgbClr val="0C0A9E"/>
                </a:solidFill>
                <a:latin typeface="Arial Black" panose="020B0A04020102020204" pitchFamily="34" charset="0"/>
                <a:cs typeface="Cascadia Mono" panose="020B0609020000020004" pitchFamily="49" charset="0"/>
              </a:rPr>
              <a:t>. </a:t>
            </a:r>
            <a:r>
              <a:rPr lang="en-US" sz="4500" b="1" dirty="0">
                <a:solidFill>
                  <a:srgbClr val="0C0A9E"/>
                </a:solidFill>
                <a:latin typeface="Arial Black" panose="020B0A04020102020204" pitchFamily="34" charset="0"/>
                <a:cs typeface="Cascadia Mono" panose="020B0609020000020004" pitchFamily="49" charset="0"/>
              </a:rPr>
              <a:t>Work plan</a:t>
            </a:r>
            <a:endParaRPr lang="bg-BG" sz="4500" b="1" dirty="0" err="1">
              <a:solidFill>
                <a:srgbClr val="0C0A9E"/>
              </a:solidFill>
              <a:latin typeface="Arial Black" panose="020B0A04020102020204" pitchFamily="34" charset="0"/>
              <a:cs typeface="Cascadia Mono" panose="020B0609020000020004" pitchFamily="49" charset="0"/>
            </a:endParaRPr>
          </a:p>
        </p:txBody>
      </p:sp>
      <p:sp>
        <p:nvSpPr>
          <p:cNvPr id="5" name="Контейнер за съдържание 4">
            <a:extLst>
              <a:ext uri="{FF2B5EF4-FFF2-40B4-BE49-F238E27FC236}">
                <a16:creationId xmlns:a16="http://schemas.microsoft.com/office/drawing/2014/main" id="{3BAF1F1C-B626-88DF-8991-F8BC47EE3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500" b="1" dirty="0">
                <a:latin typeface="Consolas" panose="020B0609020204030204" pitchFamily="49" charset="0"/>
                <a:cs typeface="Cascadia Mono" panose="020B0609020000020004" pitchFamily="49" charset="0"/>
              </a:rPr>
              <a:t>Make up a feasible idea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500" b="1" dirty="0">
                <a:latin typeface="Consolas" panose="020B0609020204030204" pitchFamily="49" charset="0"/>
                <a:cs typeface="Cascadia Mono" panose="020B0609020000020004" pitchFamily="49" charset="0"/>
              </a:rPr>
              <a:t>Distribute the tasks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500" b="1" dirty="0">
                <a:latin typeface="Consolas" panose="020B0609020204030204" pitchFamily="49" charset="0"/>
                <a:cs typeface="Cascadia Mono" panose="020B0609020000020004" pitchFamily="49" charset="0"/>
              </a:rPr>
              <a:t>Start writing the code</a:t>
            </a:r>
          </a:p>
          <a:p>
            <a:pPr marL="0" indent="0">
              <a:buNone/>
            </a:pPr>
            <a:r>
              <a:rPr lang="en-US" sz="2500" b="1" dirty="0">
                <a:latin typeface="Consolas" panose="020B0609020204030204" pitchFamily="49" charset="0"/>
                <a:cs typeface="Cascadia Mono" panose="020B0609020000020004" pitchFamily="49" charset="0"/>
              </a:rPr>
              <a:t>	2.1. Main menu</a:t>
            </a:r>
          </a:p>
          <a:p>
            <a:pPr marL="0" indent="0">
              <a:buNone/>
            </a:pPr>
            <a:r>
              <a:rPr lang="en-US" sz="2500" b="1" dirty="0">
                <a:latin typeface="Consolas" panose="020B0609020204030204" pitchFamily="49" charset="0"/>
                <a:cs typeface="Cascadia Mono" panose="020B0609020000020004" pitchFamily="49" charset="0"/>
              </a:rPr>
              <a:t>	2.2. The rest of the structure</a:t>
            </a:r>
          </a:p>
          <a:p>
            <a:pPr marL="0" indent="0">
              <a:buNone/>
            </a:pPr>
            <a:r>
              <a:rPr lang="en-US" sz="2500" b="1" dirty="0">
                <a:latin typeface="Consolas" panose="020B0609020204030204" pitchFamily="49" charset="0"/>
                <a:cs typeface="Cascadia Mono" panose="020B0609020000020004" pitchFamily="49" charset="0"/>
              </a:rPr>
              <a:t>4. Create a documentation</a:t>
            </a:r>
          </a:p>
          <a:p>
            <a:pPr marL="0" indent="0">
              <a:buNone/>
            </a:pPr>
            <a:r>
              <a:rPr lang="en-US" sz="2500" b="1" dirty="0">
                <a:latin typeface="Consolas" panose="020B0609020204030204" pitchFamily="49" charset="0"/>
                <a:cs typeface="Cascadia Mono" panose="020B0609020000020004" pitchFamily="49" charset="0"/>
              </a:rPr>
              <a:t>5. Create a presentation</a:t>
            </a:r>
            <a:endParaRPr lang="bg-BG" sz="2500" b="1" dirty="0">
              <a:latin typeface="Consolas" panose="020B0609020204030204" pitchFamily="49" charset="0"/>
              <a:cs typeface="Cascadia Mono" panose="020B0609020000020004" pitchFamily="49" charset="0"/>
            </a:endParaRPr>
          </a:p>
        </p:txBody>
      </p:sp>
      <p:pic>
        <p:nvPicPr>
          <p:cNvPr id="3" name="Картина 2">
            <a:extLst>
              <a:ext uri="{FF2B5EF4-FFF2-40B4-BE49-F238E27FC236}">
                <a16:creationId xmlns:a16="http://schemas.microsoft.com/office/drawing/2014/main" id="{92434681-8CCD-C1AD-4C0B-BAA1CCDB4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045084" y="151681"/>
            <a:ext cx="615315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86887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1524000" y="1915255"/>
            <a:ext cx="9144000" cy="2387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 sz="5700" b="1" dirty="0">
                <a:solidFill>
                  <a:srgbClr val="0C0A9E"/>
                </a:solidFill>
                <a:latin typeface="Arial Black" panose="020B0A04020102020204" pitchFamily="34" charset="0"/>
                <a:ea typeface="+mn-ea"/>
                <a:cs typeface="Cascadia Mono" panose="020B0609020000020004" pitchFamily="49" charset="0"/>
              </a:rPr>
              <a:t>Now let's jump into the game!</a:t>
            </a:r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B2AE9028-422F-9B22-D098-1DEDF787B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311" y="4185307"/>
            <a:ext cx="6153150" cy="228600"/>
          </a:xfrm>
          <a:prstGeom prst="rect">
            <a:avLst/>
          </a:prstGeom>
        </p:spPr>
      </p:pic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B8738C71-6E77-9F99-3C29-36EE6F40A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622292" y="4185307"/>
            <a:ext cx="6153150" cy="228600"/>
          </a:xfrm>
          <a:prstGeom prst="rect">
            <a:avLst/>
          </a:prstGeom>
        </p:spPr>
      </p:pic>
      <p:sp>
        <p:nvSpPr>
          <p:cNvPr id="10" name="Правоъгълен триъгълник 9">
            <a:extLst>
              <a:ext uri="{FF2B5EF4-FFF2-40B4-BE49-F238E27FC236}">
                <a16:creationId xmlns:a16="http://schemas.microsoft.com/office/drawing/2014/main" id="{DCA2E701-67A9-DAD5-8B55-1BF59B4DFC9F}"/>
              </a:ext>
            </a:extLst>
          </p:cNvPr>
          <p:cNvSpPr/>
          <p:nvPr/>
        </p:nvSpPr>
        <p:spPr>
          <a:xfrm rot="10800000">
            <a:off x="9592235" y="-423"/>
            <a:ext cx="2599764" cy="2286000"/>
          </a:xfrm>
          <a:prstGeom prst="rtTriangle">
            <a:avLst/>
          </a:prstGeom>
          <a:solidFill>
            <a:srgbClr val="0C0A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9804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тема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3182</TotalTime>
  <Words>144</Words>
  <Application>Microsoft Office PowerPoint</Application>
  <PresentationFormat>Widescreen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Arial Black</vt:lpstr>
      <vt:lpstr>Cascadia Mono</vt:lpstr>
      <vt:lpstr>Consolas</vt:lpstr>
      <vt:lpstr>Office тема</vt:lpstr>
      <vt:lpstr>GamesCenter</vt:lpstr>
      <vt:lpstr>Table of contents</vt:lpstr>
      <vt:lpstr>PowerPoint Presentation</vt:lpstr>
      <vt:lpstr>01. Team members</vt:lpstr>
      <vt:lpstr>PowerPoint Presentation</vt:lpstr>
      <vt:lpstr>02. Project idea</vt:lpstr>
      <vt:lpstr>PowerPoint Presentation</vt:lpstr>
      <vt:lpstr>03. Technologies used</vt:lpstr>
      <vt:lpstr>PowerPoint Presentation</vt:lpstr>
      <vt:lpstr>04. Work plan</vt:lpstr>
      <vt:lpstr>Now let's jump into the game!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“X”</dc:title>
  <dc:creator/>
  <cp:lastModifiedBy>Антонио И. Иванов</cp:lastModifiedBy>
  <cp:revision>257</cp:revision>
  <dcterms:created xsi:type="dcterms:W3CDTF">2024-11-13T17:55:50Z</dcterms:created>
  <dcterms:modified xsi:type="dcterms:W3CDTF">2025-12-07T17:53:31Z</dcterms:modified>
</cp:coreProperties>
</file>